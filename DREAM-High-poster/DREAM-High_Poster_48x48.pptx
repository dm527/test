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438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AND REVIEW NOTES</a:t>
            </a:r>
          </a:p>
          <a:p>
            <a:r>
              <a:t>Content: CSBC_DREAM-High_Abstract_DM.docx and DREAM-High_slides.pptx supplied by the user. User's additional instructions establish the $75,000 grant and proposed 2027 developments.</a:t>
            </a:r>
          </a:p>
          <a:p>
            <a:r>
              <a:t>Participation and alumni counts: abstract. Course platforms: slides 2-4. Alumni activities: slide 5. Scientist and patient-advocate interactions: slide 6. Portfolio: slide 8. Survey values: native chart in slide 11.</a:t>
            </a:r>
          </a:p>
          <a:p>
            <a:r>
              <a:t>Survey: original values preserved and displayed rounded to one decimal place; labels shortened for readability. No respondent count or survey cohort/year supplied. Do not infer a denominator from rounded percentages. Confirm the count, cohort, timing, and item-level missing responses before printing. Student-reported perceptions are distinct from demonstrated proficiency.</a:t>
            </a:r>
          </a:p>
          <a:p>
            <a:r>
              <a:t>The portfolio screenshot is an embedded source image; surrounding text, chart bars and labels, and all other layout elements are editable. Confirm permission for public display of the student name and portrait.</a:t>
            </a:r>
          </a:p>
          <a:p>
            <a:r>
              <a:t>Confirm exact funding acknowledgment, grant numbers, and required logos before printing. The supplied institutional logos do not establish funding attribution. No award identifier has been invented.</a:t>
            </a:r>
          </a:p>
          <a:p>
            <a:r>
              <a:t>2027 developments are proposals, not commitments. Confirm grant scope and allowable expenses.</a:t>
            </a:r>
          </a:p>
          <a:p>
            <a:r>
              <a:t>Illustrative $75,000 allocation, not an approved budget:</a:t>
            </a:r>
          </a:p>
          <a:p>
            <a:r>
              <a:t>Independent-coding curriculum and instructor preparation: $20,000</a:t>
            </a:r>
          </a:p>
          <a:p>
            <a:r>
              <a:t>Alumni planning, teaching, and mentoring stipends: $18,000</a:t>
            </a:r>
          </a:p>
          <a:p>
            <a:r>
              <a:t>Artist-in-Residence and collaborative projects: $12,000</a:t>
            </a:r>
          </a:p>
          <a:p>
            <a:r>
              <a:t>Scientist and patient-advocate participation: $8,000</a:t>
            </a:r>
          </a:p>
          <a:p>
            <a:r>
              <a:t>Access support and accessibility: $7,000</a:t>
            </a:r>
          </a:p>
          <a:p>
            <a:r>
              <a:t>Evaluation and follow-up: $5,000</a:t>
            </a:r>
          </a:p>
          <a:p>
            <a:r>
              <a:t>Coordination and contingency: $5,000</a:t>
            </a:r>
          </a:p>
          <a:p>
            <a:r>
              <a:t>Total: $75,000</a:t>
            </a:r>
          </a:p>
          <a:p>
            <a:r>
              <a:t>Print at 100% on 48 x 48-inch stock. The PDF is a rendered proof; the PowerPoint is the editable master.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43891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0" cy="7223760"/>
          </a:xfrm>
          <a:prstGeom prst="rect">
            <a:avLst/>
          </a:prstGeom>
          <a:solidFill>
            <a:srgbClr val="12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94360"/>
            <a:ext cx="1097280" cy="109728"/>
          </a:xfrm>
          <a:prstGeom prst="rect">
            <a:avLst/>
          </a:prstGeom>
          <a:solidFill>
            <a:srgbClr val="E9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48840" y="420624"/>
            <a:ext cx="393192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NCI CANCER SYSTEMS BIOLOGY CONSORTIUM  •  OUTREACH &amp;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42062400" cy="2651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8600" b="1">
                <a:solidFill>
                  <a:srgbClr val="FFFFFF"/>
                </a:solidFill>
                <a:latin typeface="DejaVu Sans"/>
              </a:defRPr>
            </a:pPr>
            <a:r>
              <a:t>DREAM-High: From Genes to Patients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41148000" cy="12801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6000" b="0">
                <a:solidFill>
                  <a:srgbClr val="FFFFFF"/>
                </a:solidFill>
                <a:latin typeface="DejaVu Sans"/>
              </a:defRPr>
            </a:pPr>
            <a:r>
              <a:t>Teaching Cancer Systems Biology Across Scales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41148000" cy="685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300" b="1">
                <a:solidFill>
                  <a:srgbClr val="FFFFFF"/>
                </a:solidFill>
                <a:latin typeface="DejaVu Sans"/>
              </a:defRPr>
            </a:pPr>
            <a:r>
              <a:t>Diana Murray¹, Claudia Ludwig², Andrew Gentles³, Jason Somarelli⁴, Angie Bowen⁵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20640"/>
            <a:ext cx="411480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500" b="0">
                <a:solidFill>
                  <a:srgbClr val="FFFFFF"/>
                </a:solidFill>
                <a:latin typeface="DejaVu Sans"/>
              </a:defRPr>
            </a:pPr>
            <a:r>
              <a:t>¹Columbia University  ·  ²Institute for Systems Biology  ·  ³Stanford University  ·  ⁴Duke University  ·  ⁵Sage Bionetworks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080760"/>
            <a:ext cx="411480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600" b="1">
                <a:solidFill>
                  <a:srgbClr val="FFFFFF"/>
                </a:solidFill>
                <a:latin typeface="DejaVu Sans"/>
              </a:defRPr>
            </a:pPr>
            <a:r>
              <a:t>Authentic cancer data. Student-led investigation. A growing scientific community.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7818120"/>
            <a:ext cx="13441680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8110727"/>
            <a:ext cx="5029200" cy="9601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6500" b="1">
                <a:solidFill>
                  <a:srgbClr val="007F85"/>
                </a:solidFill>
                <a:latin typeface="DejaVu Sans"/>
              </a:defRPr>
            </a:pPr>
            <a:r>
              <a:t>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8247888"/>
            <a:ext cx="7543800" cy="1554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600" b="0">
                <a:solidFill>
                  <a:srgbClr val="243746"/>
                </a:solidFill>
                <a:latin typeface="DejaVu Sans"/>
              </a:defRPr>
            </a:pPr>
            <a:r>
              <a:t>students have participated to 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224759" y="7818120"/>
            <a:ext cx="13441680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0" y="8110727"/>
            <a:ext cx="5029200" cy="9601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6500" b="1">
                <a:solidFill>
                  <a:srgbClr val="007F85"/>
                </a:solidFill>
                <a:latin typeface="DejaVu Sans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56880" y="8247888"/>
            <a:ext cx="7543800" cy="1554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600" b="0">
                <a:solidFill>
                  <a:srgbClr val="243746"/>
                </a:solidFill>
                <a:latin typeface="DejaVu Sans"/>
              </a:defRPr>
            </a:pPr>
            <a:r>
              <a:t>alumni helped teach and expand the 2026 course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626560" y="7818120"/>
            <a:ext cx="13441680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46600" y="8110727"/>
            <a:ext cx="5029200" cy="9601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6500" b="1">
                <a:solidFill>
                  <a:srgbClr val="007F85"/>
                </a:solidFill>
                <a:latin typeface="DejaVu Sans"/>
              </a:defRPr>
            </a:pPr>
            <a:r>
              <a:t>$75,000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58679" y="8247888"/>
            <a:ext cx="7543800" cy="1554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600" b="0">
                <a:solidFill>
                  <a:srgbClr val="243746"/>
                </a:solidFill>
                <a:latin typeface="DejaVu Sans"/>
              </a:defRPr>
            </a:pPr>
            <a:r>
              <a:t>additional grant for proposed 2027 developments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721840" y="10972800"/>
            <a:ext cx="22860" cy="27980640"/>
          </a:xfrm>
          <a:prstGeom prst="rect">
            <a:avLst/>
          </a:prstGeom>
          <a:solidFill>
            <a:srgbClr val="D8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123640" y="10972800"/>
            <a:ext cx="22860" cy="27980640"/>
          </a:xfrm>
          <a:prstGeom prst="rect">
            <a:avLst/>
          </a:prstGeom>
          <a:solidFill>
            <a:srgbClr val="D8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11064240"/>
            <a:ext cx="118872" cy="594360"/>
          </a:xfrm>
          <a:prstGeom prst="rect">
            <a:avLst/>
          </a:prstGeom>
          <a:solidFill>
            <a:srgbClr val="00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19" y="11055096"/>
            <a:ext cx="1280160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4000" b="1">
                <a:solidFill>
                  <a:srgbClr val="12344A"/>
                </a:solidFill>
                <a:latin typeface="DejaVu Sans"/>
              </a:defRPr>
            </a:pPr>
            <a:r>
              <a:t>WHY DREAM-HIGH?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12161520"/>
            <a:ext cx="13075920" cy="2834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000" b="0">
                <a:solidFill>
                  <a:srgbClr val="243746"/>
                </a:solidFill>
                <a:latin typeface="DejaVu Sans"/>
              </a:defRPr>
            </a:pPr>
            <a:r>
              <a:t>High school students investigate cancer across biological scales, connecting molecular variation with cellular behavior and clinical outcomes while developing computational skills.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15590520"/>
            <a:ext cx="118872" cy="594360"/>
          </a:xfrm>
          <a:prstGeom prst="rect">
            <a:avLst/>
          </a:prstGeom>
          <a:solidFill>
            <a:srgbClr val="00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19" y="15581376"/>
            <a:ext cx="1280160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4000" b="1">
                <a:solidFill>
                  <a:srgbClr val="12344A"/>
                </a:solidFill>
                <a:latin typeface="DejaVu Sans"/>
              </a:defRPr>
            </a:pPr>
            <a:r>
              <a:t>FROM GENES TO PATIENTS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16779240"/>
            <a:ext cx="125272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200" b="1">
                <a:solidFill>
                  <a:srgbClr val="007F85"/>
                </a:solidFill>
                <a:latin typeface="DejaVu Sans"/>
              </a:defRPr>
            </a:pPr>
            <a:r>
              <a:t>01  Genes &amp; tumors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7556480"/>
            <a:ext cx="12527280" cy="21031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0">
                <a:solidFill>
                  <a:srgbClr val="243746"/>
                </a:solidFill>
                <a:latin typeface="DejaVu Sans"/>
              </a:defRPr>
            </a:pPr>
            <a:r>
              <a:t>Integrate TCGA gene expression and clinical data; identify tumor subtypes and explore expression patterns with heat maps.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20208240"/>
            <a:ext cx="125272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200" b="1">
                <a:solidFill>
                  <a:srgbClr val="007F85"/>
                </a:solidFill>
                <a:latin typeface="DejaVu Sans"/>
              </a:defRPr>
            </a:pPr>
            <a:r>
              <a:t>02  Cells &amp; microenvironments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20985480"/>
            <a:ext cx="12527280" cy="22860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0">
                <a:solidFill>
                  <a:srgbClr val="243746"/>
                </a:solidFill>
                <a:latin typeface="DejaVu Sans"/>
              </a:defRPr>
            </a:pPr>
            <a:r>
              <a:t>Compare cancer cell line expression profiles with physical phenotypes measured in environments that mimic the extracellular environment.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23957280"/>
            <a:ext cx="125272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200" b="1">
                <a:solidFill>
                  <a:srgbClr val="007F85"/>
                </a:solidFill>
                <a:latin typeface="DejaVu Sans"/>
              </a:defRPr>
            </a:pPr>
            <a:r>
              <a:t>03  Patients &amp; outcomes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4734520"/>
            <a:ext cx="12527280" cy="22860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0">
                <a:solidFill>
                  <a:srgbClr val="243746"/>
                </a:solidFill>
                <a:latin typeface="DejaVu Sans"/>
              </a:defRPr>
            </a:pPr>
            <a:r>
              <a:t>Use METABRIC data and linear regression to explore associations between cancer-associated gene expression and patient survival.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28163520"/>
            <a:ext cx="118872" cy="594360"/>
          </a:xfrm>
          <a:prstGeom prst="rect">
            <a:avLst/>
          </a:prstGeom>
          <a:solidFill>
            <a:srgbClr val="00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19" y="28154376"/>
            <a:ext cx="1280160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4000" b="1">
                <a:solidFill>
                  <a:srgbClr val="12344A"/>
                </a:solidFill>
                <a:latin typeface="DejaVu Sans"/>
              </a:defRPr>
            </a:pPr>
            <a:r>
              <a:t>HOW STUDENTS LEARN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29306519"/>
            <a:ext cx="12984480" cy="2743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0">
                <a:solidFill>
                  <a:srgbClr val="243746"/>
                </a:solidFill>
                <a:latin typeface="DejaVu Sans"/>
              </a:defRPr>
            </a:pPr>
            <a:r>
              <a:t>An online course combines browser-based RStudio, Pathwright activities, mentor-supported breakout rooms, and capstone projects.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32369760"/>
            <a:ext cx="13075920" cy="5852160"/>
          </a:xfrm>
          <a:prstGeom prst="roundRect">
            <a:avLst>
              <a:gd name="adj" fmla="val 3500"/>
            </a:avLst>
          </a:prstGeom>
          <a:solidFill>
            <a:srgbClr val="E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40" y="32781240"/>
            <a:ext cx="1225296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400" b="1">
                <a:solidFill>
                  <a:srgbClr val="007F85"/>
                </a:solidFill>
                <a:latin typeface="DejaVu Sans"/>
              </a:defRPr>
            </a:pPr>
            <a:r>
              <a:t>A question of their 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33832800"/>
            <a:ext cx="12252960" cy="3657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0">
                <a:solidFill>
                  <a:srgbClr val="243746"/>
                </a:solidFill>
                <a:latin typeface="DejaVu Sans"/>
              </a:defRPr>
            </a:pPr>
            <a:r>
              <a:t>Students choose a question, analyze authentic data, interpret findings, and communicate their work through a project website. Scientists and a patient advocate connect the analyses to research careers and lived experience.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270480" y="11064240"/>
            <a:ext cx="118872" cy="594360"/>
          </a:xfrm>
          <a:prstGeom prst="rect">
            <a:avLst/>
          </a:prstGeom>
          <a:solidFill>
            <a:srgbClr val="00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590520" y="11055096"/>
            <a:ext cx="1280160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4000" b="1">
                <a:solidFill>
                  <a:srgbClr val="12344A"/>
                </a:solidFill>
                <a:latin typeface="DejaVu Sans"/>
              </a:defRPr>
            </a:pPr>
            <a:r>
              <a:t>LEARNING &amp; COMMUNITY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70480" y="12161520"/>
            <a:ext cx="13075920" cy="1371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000" b="0">
                <a:solidFill>
                  <a:srgbClr val="243746"/>
                </a:solidFill>
                <a:latin typeface="DejaVu Sans"/>
              </a:defRPr>
            </a:pPr>
            <a:r>
              <a:t>End-of-program reflections reveal strong student-reported connection to science and mentors.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70480" y="13944600"/>
            <a:ext cx="1307592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300" b="1">
                <a:solidFill>
                  <a:srgbClr val="12344A"/>
                </a:solidFill>
                <a:latin typeface="DejaVu Sans"/>
              </a:defRPr>
            </a:pPr>
            <a:r>
              <a:t>Responses after DREAM-High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270480" y="14859000"/>
            <a:ext cx="320040" cy="320040"/>
          </a:xfrm>
          <a:prstGeom prst="rect">
            <a:avLst/>
          </a:prstGeom>
          <a:solidFill>
            <a:srgbClr val="87C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727680" y="14794992"/>
            <a:ext cx="47548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0">
                <a:solidFill>
                  <a:srgbClr val="243746"/>
                </a:solidFill>
                <a:latin typeface="DejaVu Sans"/>
              </a:defRPr>
            </a:pPr>
            <a:r>
              <a:t>Agree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110960" y="14859000"/>
            <a:ext cx="320040" cy="320040"/>
          </a:xfrm>
          <a:prstGeom prst="rect">
            <a:avLst/>
          </a:prstGeom>
          <a:solidFill>
            <a:srgbClr val="00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568160" y="14794992"/>
            <a:ext cx="47548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0">
                <a:solidFill>
                  <a:srgbClr val="243746"/>
                </a:solidFill>
                <a:latin typeface="DejaVu Sans"/>
              </a:defRPr>
            </a:pPr>
            <a:r>
              <a:t>Strongly agree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414480" y="14859000"/>
            <a:ext cx="320040" cy="320040"/>
          </a:xfrm>
          <a:prstGeom prst="rect">
            <a:avLst/>
          </a:prstGeom>
          <a:solidFill>
            <a:srgbClr val="E2A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871680" y="14794992"/>
            <a:ext cx="47548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0">
                <a:solidFill>
                  <a:srgbClr val="243746"/>
                </a:solidFill>
                <a:latin typeface="DejaVu Sans"/>
              </a:defRPr>
            </a:pPr>
            <a:r>
              <a:t>Disagree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270480" y="15819120"/>
            <a:ext cx="12984480" cy="685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43746"/>
                </a:solidFill>
                <a:latin typeface="DejaVu Sans"/>
              </a:defRPr>
            </a:pPr>
            <a:r>
              <a:t>Saw myself reflected in STEM professionals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270480" y="16614648"/>
            <a:ext cx="7490746" cy="676656"/>
          </a:xfrm>
          <a:prstGeom prst="rect">
            <a:avLst/>
          </a:prstGeom>
          <a:solidFill>
            <a:srgbClr val="87C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325343" y="16715232"/>
            <a:ext cx="7381018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2344A"/>
                </a:solidFill>
                <a:latin typeface="DejaVu Sans"/>
              </a:defRPr>
            </a:pPr>
            <a:r>
              <a:t>57.7%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761226" y="16614648"/>
            <a:ext cx="5493733" cy="676656"/>
          </a:xfrm>
          <a:prstGeom prst="rect">
            <a:avLst/>
          </a:prstGeom>
          <a:solidFill>
            <a:srgbClr val="00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816090" y="16715232"/>
            <a:ext cx="5384005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42.3%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270480" y="17757648"/>
            <a:ext cx="12984480" cy="685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43746"/>
                </a:solidFill>
                <a:latin typeface="DejaVu Sans"/>
              </a:defRPr>
            </a:pPr>
            <a:r>
              <a:t>Could see myself in a STEM career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270480" y="18553176"/>
            <a:ext cx="3995324" cy="676656"/>
          </a:xfrm>
          <a:prstGeom prst="rect">
            <a:avLst/>
          </a:prstGeom>
          <a:solidFill>
            <a:srgbClr val="87C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325343" y="18653760"/>
            <a:ext cx="3885596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2344A"/>
                </a:solidFill>
                <a:latin typeface="DejaVu Sans"/>
              </a:defRPr>
            </a:pPr>
            <a:r>
              <a:t>30.8%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265804" y="18553176"/>
            <a:ext cx="8989155" cy="676656"/>
          </a:xfrm>
          <a:prstGeom prst="rect">
            <a:avLst/>
          </a:prstGeom>
          <a:solidFill>
            <a:srgbClr val="00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320668" y="18653760"/>
            <a:ext cx="8879427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69.2%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70480" y="19696176"/>
            <a:ext cx="12984480" cy="685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43746"/>
                </a:solidFill>
                <a:latin typeface="DejaVu Sans"/>
              </a:defRPr>
            </a:pPr>
            <a:r>
              <a:t>Plan to stay connected with mentors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5270480" y="20491704"/>
            <a:ext cx="6992142" cy="676656"/>
          </a:xfrm>
          <a:prstGeom prst="rect">
            <a:avLst/>
          </a:prstGeom>
          <a:solidFill>
            <a:srgbClr val="87C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5325343" y="20592288"/>
            <a:ext cx="6882414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2344A"/>
                </a:solidFill>
                <a:latin typeface="DejaVu Sans"/>
              </a:defRPr>
            </a:pPr>
            <a:r>
              <a:t>53.8%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262622" y="20491704"/>
            <a:ext cx="5992337" cy="676656"/>
          </a:xfrm>
          <a:prstGeom prst="rect">
            <a:avLst/>
          </a:prstGeom>
          <a:solidFill>
            <a:srgbClr val="00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317486" y="20592288"/>
            <a:ext cx="588260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46.2%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270480" y="21634704"/>
            <a:ext cx="12984480" cy="685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43746"/>
                </a:solidFill>
                <a:latin typeface="DejaVu Sans"/>
              </a:defRPr>
            </a:pPr>
            <a:r>
              <a:t>Plan to stay connected with my cohort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270480" y="22430232"/>
            <a:ext cx="5992337" cy="676656"/>
          </a:xfrm>
          <a:prstGeom prst="rect">
            <a:avLst/>
          </a:prstGeom>
          <a:solidFill>
            <a:srgbClr val="87C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325343" y="22530816"/>
            <a:ext cx="588260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2344A"/>
                </a:solidFill>
                <a:latin typeface="DejaVu Sans"/>
              </a:defRPr>
            </a:pPr>
            <a:r>
              <a:t>46.2%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262817" y="22430232"/>
            <a:ext cx="3495422" cy="676656"/>
          </a:xfrm>
          <a:prstGeom prst="rect">
            <a:avLst/>
          </a:prstGeom>
          <a:solidFill>
            <a:srgbClr val="00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1317681" y="22530816"/>
            <a:ext cx="3385694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26.9%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4758239" y="22430232"/>
            <a:ext cx="3495422" cy="676656"/>
          </a:xfrm>
          <a:prstGeom prst="rect">
            <a:avLst/>
          </a:prstGeom>
          <a:solidFill>
            <a:srgbClr val="E2A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4813103" y="22530816"/>
            <a:ext cx="3385694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2344A"/>
                </a:solidFill>
                <a:latin typeface="DejaVu Sans"/>
              </a:defRPr>
            </a:pPr>
            <a:r>
              <a:t>26.9%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270480" y="23911560"/>
            <a:ext cx="13075920" cy="23774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0">
                <a:solidFill>
                  <a:srgbClr val="536775"/>
                </a:solidFill>
                <a:latin typeface="DejaVu Sans"/>
              </a:defRPr>
            </a:pPr>
            <a:r>
              <a:t>Four-point scale: strongly disagree, disagree, agree, strongly agree. Strongly disagree: 0% for all four items. Percentages from supplied slides; respondent count not provided.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270480" y="25968960"/>
            <a:ext cx="13075920" cy="12801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500" b="0">
                <a:solidFill>
                  <a:srgbClr val="536775"/>
                </a:solidFill>
                <a:latin typeface="DejaVu Sans"/>
              </a:defRPr>
            </a:pPr>
            <a:r>
              <a:t>These reflections describe perceptions and intentions; they do not directly measure coding proficiency.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270480" y="28163520"/>
            <a:ext cx="118872" cy="594360"/>
          </a:xfrm>
          <a:prstGeom prst="rect">
            <a:avLst/>
          </a:prstGeom>
          <a:solidFill>
            <a:srgbClr val="00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590520" y="28154376"/>
            <a:ext cx="1280160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4000" b="1">
                <a:solidFill>
                  <a:srgbClr val="12344A"/>
                </a:solidFill>
                <a:latin typeface="DejaVu Sans"/>
              </a:defRPr>
            </a:pPr>
            <a:r>
              <a:t>STUDENT WORK IN PRACTICE</a:t>
            </a:r>
          </a:p>
        </p:txBody>
      </p:sp>
      <p:pic>
        <p:nvPicPr>
          <p:cNvPr id="75" name="Picture 74" descr="slide8_imag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0" y="29352240"/>
            <a:ext cx="6217920" cy="736351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21991319" y="29489400"/>
            <a:ext cx="6217920" cy="10972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200" b="1">
                <a:solidFill>
                  <a:srgbClr val="007F85"/>
                </a:solidFill>
                <a:latin typeface="DejaVu Sans"/>
              </a:defRPr>
            </a:pPr>
            <a:r>
              <a:t>From analysis to communication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991319" y="31089600"/>
            <a:ext cx="6217920" cy="5303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800" b="0">
                <a:solidFill>
                  <a:srgbClr val="243746"/>
                </a:solidFill>
                <a:latin typeface="DejaVu Sans"/>
              </a:defRPr>
            </a:pPr>
            <a:r>
              <a:t>Henry Brooks’ portfolio connects R activities, data visualizations, and a final project exploring geographic differences in cancer and treatment access.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5270480" y="37033200"/>
            <a:ext cx="1298448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0">
                <a:solidFill>
                  <a:srgbClr val="536775"/>
                </a:solidFill>
                <a:latin typeface="DejaVu Sans"/>
              </a:defRPr>
            </a:pPr>
            <a:r>
              <a:t>Example student portfolio from the supplied course slides.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9672280" y="11064240"/>
            <a:ext cx="118872" cy="594360"/>
          </a:xfrm>
          <a:prstGeom prst="rect">
            <a:avLst/>
          </a:prstGeom>
          <a:solidFill>
            <a:srgbClr val="00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9992320" y="11055096"/>
            <a:ext cx="1280160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4000" b="1">
                <a:solidFill>
                  <a:srgbClr val="12344A"/>
                </a:solidFill>
                <a:latin typeface="DejaVu Sans"/>
              </a:defRPr>
            </a:pPr>
            <a:r>
              <a:t>PARTICIPANTS → CONTRIBUTORS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672280" y="12252960"/>
            <a:ext cx="12984480" cy="2926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000" b="0">
                <a:solidFill>
                  <a:srgbClr val="243746"/>
                </a:solidFill>
                <a:latin typeface="DejaVu Sans"/>
              </a:defRPr>
            </a:pPr>
            <a:r>
              <a:t>Five alumni helped teach and expand the 2026 course through breakout-room mentoring, learning activities, and final-project support.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672280" y="15544800"/>
            <a:ext cx="12984480" cy="23774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000" b="0">
                <a:solidFill>
                  <a:srgbClr val="243746"/>
                </a:solidFill>
                <a:latin typeface="DejaVu Sans"/>
              </a:defRPr>
            </a:pPr>
            <a:r>
              <a:t>Students from the 2026 cohort want to help plan, teach, and mentor in 2027—creating a pathway from participation to leadership.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9672280" y="18562320"/>
            <a:ext cx="12984480" cy="20253960"/>
          </a:xfrm>
          <a:prstGeom prst="roundRect">
            <a:avLst>
              <a:gd name="adj" fmla="val 3500"/>
            </a:avLst>
          </a:prstGeom>
          <a:solidFill>
            <a:srgbClr val="E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0038040" y="19019520"/>
            <a:ext cx="1225296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400" b="1">
                <a:solidFill>
                  <a:srgbClr val="007F85"/>
                </a:solidFill>
                <a:latin typeface="DejaVu Sans"/>
              </a:defRPr>
            </a:pPr>
            <a:r>
              <a:t>PROPOSED 2027 DEVELOPMENTS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038040" y="20116800"/>
            <a:ext cx="12252960" cy="1463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800" b="0">
                <a:solidFill>
                  <a:srgbClr val="243746"/>
                </a:solidFill>
                <a:latin typeface="DejaVu Sans"/>
              </a:defRPr>
            </a:pPr>
            <a:r>
              <a:t>The additional $75,000 grant creates an opportunity to invest in people, curriculum, and creative collaboration.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038040" y="22037040"/>
            <a:ext cx="1216152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200" b="1">
                <a:solidFill>
                  <a:srgbClr val="007F85"/>
                </a:solidFill>
                <a:latin typeface="DejaVu Sans"/>
              </a:defRPr>
            </a:pPr>
            <a:r>
              <a:t>More independent R coding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038040" y="22814280"/>
            <a:ext cx="12161520" cy="21031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0">
                <a:solidFill>
                  <a:srgbClr val="243746"/>
                </a:solidFill>
                <a:latin typeface="DejaVu Sans"/>
              </a:defRPr>
            </a:pPr>
            <a:r>
              <a:t>Respond to student feedback: modify code → complete steps → debug scripts → design an analysis. Offer core tasks and optional challenges.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038040" y="25603200"/>
            <a:ext cx="1216152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200" b="1">
                <a:solidFill>
                  <a:srgbClr val="007F85"/>
                </a:solidFill>
                <a:latin typeface="DejaVu Sans"/>
              </a:defRPr>
            </a:pPr>
            <a:r>
              <a:t>More voices in cancer research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0038040" y="26380440"/>
            <a:ext cx="12161520" cy="21031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0">
                <a:solidFill>
                  <a:srgbClr val="243746"/>
                </a:solidFill>
                <a:latin typeface="DejaVu Sans"/>
              </a:defRPr>
            </a:pPr>
            <a:r>
              <a:t>Expand small-group conversations with scientists and patient advocates; connect analysis with research questions and patient experience.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038040" y="29077920"/>
            <a:ext cx="1216152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200" b="1">
                <a:solidFill>
                  <a:srgbClr val="007F85"/>
                </a:solidFill>
                <a:latin typeface="DejaVu Sans"/>
              </a:defRPr>
            </a:pPr>
            <a:r>
              <a:t>Alumni planning &amp; mentoring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038040" y="29855160"/>
            <a:ext cx="12161520" cy="21031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0">
                <a:solidFill>
                  <a:srgbClr val="243746"/>
                </a:solidFill>
                <a:latin typeface="DejaVu Sans"/>
              </a:defRPr>
            </a:pPr>
            <a:r>
              <a:t>Form a student advisory group; train returning students for supported teaching and peer-mentor roles, with stipends where permitted.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0038040" y="32552640"/>
            <a:ext cx="1216152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200" b="1">
                <a:solidFill>
                  <a:srgbClr val="007F85"/>
                </a:solidFill>
                <a:latin typeface="DejaVu Sans"/>
              </a:defRPr>
            </a:pPr>
            <a:r>
              <a:t>DREAM-High Artist-in-Residence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038040" y="33329880"/>
            <a:ext cx="12161520" cy="21031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0">
                <a:solidFill>
                  <a:srgbClr val="243746"/>
                </a:solidFill>
                <a:latin typeface="DejaVu Sans"/>
              </a:defRPr>
            </a:pPr>
            <a:r>
              <a:t>Lead “From Data to Story”: students translate findings into illustrations, visual narratives, or animations with scientific review and patient input.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0038040" y="36301680"/>
            <a:ext cx="12161520" cy="1828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700" b="1">
                <a:solidFill>
                  <a:srgbClr val="007F85"/>
                </a:solidFill>
                <a:latin typeface="DejaVu Sans"/>
              </a:defRPr>
            </a:pPr>
            <a:r>
              <a:t>Evaluate growth with coding and interpretation tasks alongside reflections and alumni follow-up.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39730680"/>
            <a:ext cx="43891200" cy="4160520"/>
          </a:xfrm>
          <a:prstGeom prst="rect">
            <a:avLst/>
          </a:prstGeom>
          <a:solidFill>
            <a:srgbClr val="12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68680" y="40187880"/>
            <a:ext cx="2743200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4200" b="1">
                <a:solidFill>
                  <a:srgbClr val="FFFFFF"/>
                </a:solidFill>
                <a:latin typeface="DejaVu Sans"/>
              </a:defRPr>
            </a:pPr>
            <a:r>
              <a:t>JOIN THE DREAM-HIGH COMMUNITY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68680" y="41193720"/>
            <a:ext cx="26517600" cy="1920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000" b="0">
                <a:solidFill>
                  <a:srgbClr val="FFFFFF"/>
                </a:solidFill>
                <a:latin typeface="DejaVu Sans"/>
              </a:defRPr>
            </a:pPr>
            <a:r>
              <a:t>We welcome CSBC partners to contribute research-based modules, meet students, support mentors, and broaden participation.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672280" y="40462200"/>
            <a:ext cx="1307592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1">
                <a:solidFill>
                  <a:srgbClr val="E9B85C"/>
                </a:solidFill>
                <a:latin typeface="DejaVu Sans"/>
              </a:defRPr>
            </a:pPr>
            <a:r>
              <a:t>LET’S CONNECT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9672280" y="41239440"/>
            <a:ext cx="13075920" cy="1645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000" b="0">
                <a:solidFill>
                  <a:srgbClr val="FFFFFF"/>
                </a:solidFill>
                <a:latin typeface="DejaVu Sans"/>
              </a:defRPr>
            </a:pPr>
            <a:r>
              <a:t>Diana Murray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3000" b="0">
                <a:solidFill>
                  <a:srgbClr val="FFFFFF"/>
                </a:solidFill>
                <a:latin typeface="DejaVu Sans"/>
              </a:defRPr>
            </a:pPr>
            <a:r>
              <a:t>dm527@cumc.columbia.edu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DREAM-High: From Genes to Patients</dc:title>
  <dc:subject>48 × 48-inch CSBC outreach poster</dc:subject>
  <dc:creator>Diana Murray and collaborators</dc:creator>
  <cp:keywords>DREAM-High, CSBC, outreach, cancer systems biology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